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/>
            </a:pPr>
            <a:r>
              <a:t>The 'Sugar Trap'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Market Gap Analysis in the Healthy Snacking Sector</a:t>
            </a:r>
          </a:p>
          <a:p>
            <a:r>
              <a:t>Client: Helix CPG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Objective: Identify 'Blue Ocean' product categories in the saturated snack market.</a:t>
            </a:r>
          </a:p>
          <a:p>
            <a:pPr/>
            <a:r>
              <a:t>The Methodology: Analyzed 2.5 million food products, applying strict macro-nutrient and Nutri-Score thresholds.</a:t>
            </a:r>
          </a:p>
          <a:p>
            <a:pPr/>
            <a:r>
              <a:t>The Recommendation: The Chocolate &amp; Confections category presents the largest opportunity, scoring highest on our proprietary Blue Ocean Disruption Index (BODI).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Rigorous Health Validation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avoided arbitrary 'median-split' categorizations in favor of a dual-validation framework based on medical guidelines:</a:t>
            </a:r>
          </a:p>
          <a:p>
            <a:pPr lvl="1"/>
            <a:r>
              <a:t>Phase 1: NHS / WHO Thresholds</a:t>
            </a:r>
          </a:p>
          <a:p>
            <a:pPr lvl="2"/>
            <a:r>
              <a:t>High Protein: &gt; 5g per 100g</a:t>
            </a:r>
          </a:p>
          <a:p>
            <a:pPr lvl="2"/>
            <a:r>
              <a:t>Low Sugar: &lt; 5g per 100g</a:t>
            </a:r>
          </a:p>
          <a:p>
            <a:pPr lvl="1"/>
            <a:r>
              <a:t>Phase 2: Nutri-Score Guardrails</a:t>
            </a:r>
          </a:p>
          <a:p>
            <a:pPr lvl="2"/>
            <a:r>
              <a:t>Products must also score an 'A' or 'B'. This prevents 'health-washing'—recommending products that hit macros but are packed with sodium, saturated fat, or excessive calories.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Blue Ocean Disruption Index (BODI)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move beyond subjective analysis, we developed a composite metric mathematically identifying market gaps.</a:t>
            </a:r>
          </a:p>
          <a:p>
            <a:pPr lvl="1">
              <a:defRPr b="1"/>
            </a:pPr>
            <a:r>
              <a:t>BODI = √(Normalized Supply Gap × Normalized Demand)</a:t>
            </a:r>
          </a:p>
          <a:p>
            <a:pPr lvl="1"/>
            <a:r>
              <a:t>Supply Gap: Percentage of products failing the health test (weighted by category size to penalize tiny niches).</a:t>
            </a:r>
          </a:p>
          <a:p>
            <a:pPr lvl="1"/>
            <a:r>
              <a:t>Demand Proxy: Percentage of products successfully marketed with health labels (e.g., 'Vegan', 'High Protein').</a:t>
            </a:r>
          </a:p>
          <a:p>
            <a:pPr/>
            <a:r>
              <a:t>The Geometric Mean guarantees we only recommend categories where BOTH the gap and demand are simultaneously high.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Recommendation: Disrupting Confections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Target Category: Chocolate &amp; Confections</a:t>
            </a:r>
          </a:p>
          <a:p>
            <a:pPr lvl="1"/>
            <a:r>
              <a:t>Result: Ranked #1 with a BODI score of 57.9.</a:t>
            </a:r>
          </a:p>
          <a:p>
            <a:pPr>
              <a:defRPr b="1"/>
            </a:pPr>
            <a:r>
              <a:t>Actionable Formulation: A Dairy/Whey Protein Coated Biscuit.</a:t>
            </a:r>
          </a:p>
          <a:p>
            <a:pPr lvl="1"/>
            <a:r>
              <a:t>Strategy: This captures the top two market gaps simultaneously (#1 Confections + #2 Cookies/Biscuits).</a:t>
            </a:r>
          </a:p>
          <a:p>
            <a:pPr lvl="1"/>
            <a:r>
              <a:t>Key Ingredient: 'Whey / Dairy' is driving the protein content in 85% of successful healthy snacks.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Candidate's Choice: The Clean Label Vulnerability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Hitting macros was the 2010s trend. The 2020s trend is 'Clean Label'.</a:t>
            </a:r>
          </a:p>
          <a:p>
            <a:pPr lvl="1"/>
            <a:r>
              <a:t>The Discovery: Of the snacks that actually passed our health test, the vast majority are still classified as NOVA 4 (Ultra-Processed).</a:t>
            </a:r>
          </a:p>
          <a:p>
            <a:pPr lvl="1"/>
            <a:r>
              <a:t>The Flaw: Competitors rely on protein isolates, chemical emulsifiers, and artificial sweeteners.</a:t>
            </a:r>
          </a:p>
          <a:p>
            <a:pPr>
              <a:defRPr b="1"/>
            </a:pPr>
            <a:r>
              <a:t>The Ultimate Disruption: Formulate a NOVA 3 (Processed but NOT Ultra-Processed) alternative. Capture the premium 'whole food' segment that current competitors physically cannot reach with their chemical formulations.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